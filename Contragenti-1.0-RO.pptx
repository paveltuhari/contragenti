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Raport de acceptanță pentru instalatorul MSI Contragenti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4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 DE BUILD ȘI ACCEPTANȚĂ · WINDOWS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6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Contragenti 1.0</a:t>
            </a:r>
            <a:endParaRPr lang="en-US" sz="6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54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Instalator MSI pentru căutarea persoanelor juridice din Moldova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portalul date.gov.md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6177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Pachet  ·  Contragenti-1.0.0-win64.msi  ·  30,1 MB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0017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·  cx_Freeze 8.7  ·  Python 3.12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38581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Instalare  ·  per utilizator, fără drepturi de administrator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89720" y="2148840"/>
            <a:ext cx="2194560" cy="2194560"/>
          </a:xfrm>
          <a:prstGeom prst="ellipse">
            <a:avLst/>
          </a:prstGeom>
          <a:solidFill>
            <a:srgbClr val="1D3444"/>
          </a:solidFill>
          <a:ln w="15875">
            <a:solidFill>
              <a:srgbClr val="4FC0A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89720" y="2651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MSI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win64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Rezultatele acceptanței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Ciclul complet a rulat pe pachetul construit, nu pe codul sursă.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2487168" cy="315468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4871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6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32104" y="39867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de ieșire msiexec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02152" y="1920240"/>
            <a:ext cx="2487168" cy="315468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02152" y="24871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6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61188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Auto-test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648456" y="39867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toate subsistemele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18504" y="1920240"/>
            <a:ext cx="2487168" cy="315468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18504" y="24871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56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361188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Companii găsite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39867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interogare reală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920240"/>
            <a:ext cx="2487168" cy="315468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34856" y="24871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6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18" name="Text 16"/>
          <p:cNvSpPr txBox="1"/>
          <p:nvPr/>
        </p:nvSpPr>
        <p:spPr>
          <a:xfrm>
            <a:off x="9134856" y="361188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Dezinstalare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9867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reziduuri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Datele sunt furnizate de portalul de date deschise al Guvernului Republicii Moldova (date.gov.md).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Ciclul de verificare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cum va proceda utilizatorul.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727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Instalarea pachetului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Instalare silențioasă în profilul utilizatorului. Nu sunt necesare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drepturi de administrator, UAC nu apare.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8072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797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pornire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1089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Fereastra se deschide pe fila de căutare online. În titlu —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contorul bazei acumulate, meniu în română.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01421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9867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Interogare reală către date.gov.md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159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fost pornit un Chrome 151 real, formularul a fost completat.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baza locală au rămas 40 de companii.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5285232"/>
            <a:ext cx="5532120" cy="548640"/>
          </a:xfrm>
          <a:prstGeom prst="roundRect">
            <a:avLst>
              <a:gd name="adj" fmla="val 8333"/>
            </a:avLst>
          </a:prstGeom>
          <a:solidFill>
            <a:srgbClr val="E3EFEC"/>
          </a:solidFill>
          <a:ln w="12700">
            <a:solidFill>
              <a:srgbClr val="C9E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528523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msiexec /i Contragenti-1.0.0-win64.msi /qn      →  ExitCode 0</a:t>
            </a:r>
            <a:endParaRPr lang="en-US" sz="1050" dirty="0"/>
          </a:p>
        </p:txBody>
      </p:sp>
      <p:pic>
        <p:nvPicPr>
          <p:cNvPr id="18" name="Image 0" descr="F:\grok\contragents data gov\docs\screenshots_ro\01_on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73952"/>
            <a:ext cx="4892040" cy="3738695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sp>
        <p:nvSpPr>
          <p:cNvPr id="19" name="Text 16"/>
          <p:cNvSpPr txBox="1"/>
          <p:nvPr/>
        </p:nvSpPr>
        <p:spPr>
          <a:xfrm>
            <a:off x="6629400" y="55406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„Căutare online”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Baza locală și fișele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5727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Căutare offline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019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„Doar BD” caută în înregistrările acumulate,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acces la site.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28072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797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Fișa companiei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1089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bază, fondatori cu cotele lor și restanțe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față de buget.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01421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9867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Dezinstalarea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3159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Programul și scurtătura sunt eliminate complet. Fișierul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companies.db rămâne intenționat.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5285232"/>
            <a:ext cx="5532120" cy="548640"/>
          </a:xfrm>
          <a:prstGeom prst="roundRect">
            <a:avLst>
              <a:gd name="adj" fmla="val 8333"/>
            </a:avLst>
          </a:prstGeom>
          <a:solidFill>
            <a:srgbClr val="E3EFEC"/>
          </a:solidFill>
          <a:ln w="12700">
            <a:solidFill>
              <a:srgbClr val="C9E0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28523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msiexec /x Contragenti-1.0.0-win64.msi /qn      →  ExitCode 0</a:t>
            </a:r>
            <a:endParaRPr lang="en-US" sz="1050" dirty="0"/>
          </a:p>
        </p:txBody>
      </p:sp>
      <p:pic>
        <p:nvPicPr>
          <p:cNvPr id="17" name="Image 0" descr="F:\grok\contragents data gov\docs\screenshots_ro\02_db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73952"/>
            <a:ext cx="4892040" cy="3738695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sp>
        <p:nvSpPr>
          <p:cNvPr id="18" name="Text 15"/>
          <p:cNvSpPr txBox="1"/>
          <p:nvPr/>
        </p:nvSpPr>
        <p:spPr>
          <a:xfrm>
            <a:off x="6629400" y="55406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„Doar BD”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Fișele companiilor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Datele au fost extrase de pe portal printr-o interogare reală.</a:t>
            </a:r>
            <a:endParaRPr lang="en-US" sz="1400" dirty="0"/>
          </a:p>
        </p:txBody>
      </p:sp>
      <p:pic>
        <p:nvPicPr>
          <p:cNvPr id="4" name="Image 0" descr="F:\grok\contragents data gov\docs\screenshots_ro\03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808" y="1645920"/>
            <a:ext cx="5025224" cy="384048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pic>
        <p:nvPicPr>
          <p:cNvPr id="5" name="Image 1" descr="F:\grok\contragents data gov\docs\screenshots_ro\04_card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088" y="1645920"/>
            <a:ext cx="5025224" cy="384048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685800" y="56509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UNISIM-SOFT S.R.L. — fișă cu detalii de pe portal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6355080" y="56509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Filtrul „ALFA-VIS” în baza locală — două potriviri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Auto-prezentare și auto-test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Elemente noi în meniul „Ajutor” — programul se prezintă și se verifică singur.</a:t>
            </a:r>
            <a:endParaRPr lang="en-US" sz="1400" dirty="0"/>
          </a:p>
        </p:txBody>
      </p:sp>
      <p:pic>
        <p:nvPicPr>
          <p:cNvPr id="4" name="Image 0" descr="F:\grok\contragents data gov\docs\screenshots_ro\05_ab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531" y="1691640"/>
            <a:ext cx="5081778" cy="35661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pic>
        <p:nvPicPr>
          <p:cNvPr id="5" name="Image 1" descr="F:\grok\contragents data gov\docs\screenshots_ro\06_selft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276610"/>
            <a:ext cx="5349240" cy="2396221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685800" y="54406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„Despre program” — în limba interfeței, cu contor live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6355080" y="485571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Raportul auto-testului: bază, traduceri, XML, rețea, parsere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s-a stricat pe parcurs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424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Două erori reale, găsite la acceptanță. Ambele reparate și reverificate.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1D3444"/>
          </a:solidFill>
          <a:ln w="12700">
            <a:solidFill>
              <a:srgbClr val="2E4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84832"/>
            <a:ext cx="2697480" cy="292608"/>
          </a:xfrm>
          <a:prstGeom prst="roundRect">
            <a:avLst>
              <a:gd name="adj" fmla="val 15625"/>
            </a:avLst>
          </a:prstGeom>
          <a:solidFill>
            <a:srgbClr val="3A201B"/>
          </a:solidFill>
          <a:ln w="12700">
            <a:solidFill>
              <a:srgbClr val="5A2E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848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E0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 CĂUTAREA ONLINE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48716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Bannerul de cookie intercepta trimiterea formularului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035808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Bannerul de consimțământ acoperea butonul de trimitere — Selenium eșua cu ElementClickInterceptedException. Căutarea online nu funcționa deloc.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4348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Reparat: bannerul este închis cu opțiunea „doar cele necesare”, plus un clic de rezervă prin DOM.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1D3444"/>
          </a:solidFill>
          <a:ln w="12700">
            <a:solidFill>
              <a:srgbClr val="2E4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2084832"/>
            <a:ext cx="2697480" cy="292608"/>
          </a:xfrm>
          <a:prstGeom prst="roundRect">
            <a:avLst>
              <a:gd name="adj" fmla="val 15625"/>
            </a:avLst>
          </a:prstGeom>
          <a:solidFill>
            <a:srgbClr val="3A201B"/>
          </a:solidFill>
          <a:ln w="12700">
            <a:solidFill>
              <a:srgbClr val="5A2E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0848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E0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DOAR ÎN EXE-UL CONSTRUIT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48716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de date nu se deschidea după instalare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035808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Calea către companies.db era calculată din __file__, iar cx_Freeze plasează modulele în library.zip. În surse funcționa, în programul instalat — „unable to open database file”.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44348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Reparat: calea se ia din sys.executable. Eroarea a fost găsită de auto-testul încorporat.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Datele primite de la portal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mostre și nici date fictive — răspunsul date.gov.md la interogări reale.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9202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Societatea cu Răspundere Limitată ALFA-VIS COM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5292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IDNO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28529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1017600018242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015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Înregistrare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340156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13.04.2017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9502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9502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mun. Chişinău, sec. Centru,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Alecsandri Vasile, 80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4988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44988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BUBIS YEVGENY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04748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Fondatori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504748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BUBIS ANNA — 50,00 %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BUBIS YEVGENY — 50,00 %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59612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Restanțe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55961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 MDL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64592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675120" y="1874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Centrul de Elaborare şi Implementare a Sistemelor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Informaţionale de Management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2860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UNISIM-SOFT S.R.L.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85292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IDNO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28529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1003600116460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34015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Înregistrare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340156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30.03.2001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39502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39502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mun. Chişinău, sec. Buiucani,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Alba-Iulia, 75/B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44988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44988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TUHARI PAVEL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504748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Fondatori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504748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TUHARI PAVEL — 100,00 %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559612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Restanțe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046720" y="55961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6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0,98 MDL  (bugetul de stat)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 au fost făcute capturile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captură obișnuită era imposibilă: sesiunea de build este deconectată de la desktop. Aplicația se fotografiază singură.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ia fereastra de nivel superior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7568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GetParent(widget.winfo_id()) — widgetul Tk returnează fereastra-copil, fără ramă și titlu.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7556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Fereastra se desenează singură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07568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PrintWindow(hwnd, memdc, PW_RENDERFULLCONTENT) — desenare într-un context din umbră, ocolind ecranul.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10896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0815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Pixelii se preiau pe partea corectă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4015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GetDIBits cu înălțime negativă — rânduri de sus în jos, altfel imaginea iese răsturnată.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310896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0815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Imaginea se compune ca BGRA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4015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Ordinea canalelor în Windows este exact aceasta, nu RGBA.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572000"/>
            <a:ext cx="10835640" cy="1463040"/>
          </a:xfrm>
          <a:prstGeom prst="roundRect">
            <a:avLst>
              <a:gd name="adj" fmla="val 3750"/>
            </a:avLst>
          </a:prstGeom>
          <a:solidFill>
            <a:srgbClr val="F6E7E4"/>
          </a:solidFill>
          <a:ln w="12700">
            <a:solidFill>
              <a:srgbClr val="E8CC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Capcană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074920"/>
            <a:ext cx="10195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ce depășește ecranul fizic apare gol în captură — driverul nu desenează acolo. În plus, fereastra nu se micșorează sub propriul minsize. Demo ridică această limită și ia dimensiunea ecranului din GetSystemMetrics, nu din Tk.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 se repetă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Ambele funcții sunt disponibile din interfață și din linia de comandă.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356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7568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4825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Auto-test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231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program: meniul Ajutor → Rulează auto-testul.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consolă — cod de ieșire 0 la succes, potrivit pentru CI.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80960" y="2350008"/>
            <a:ext cx="3520440" cy="685800"/>
          </a:xfrm>
          <a:prstGeom prst="roundRect">
            <a:avLst>
              <a:gd name="adj" fmla="val 6667"/>
            </a:avLst>
          </a:prstGeom>
          <a:solidFill>
            <a:srgbClr val="E3EFEC"/>
          </a:solidFill>
          <a:ln w="12700">
            <a:solidFill>
              <a:srgbClr val="C9E0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45552" y="235000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Contragenti.exe --selftest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3931920"/>
            <a:ext cx="108356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422452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224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19709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Auto-prezentare cu capturi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5720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Parcurge toate ecranele cu date demonstrative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și salvează capturile în folderul indicat.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0" y="4498848"/>
            <a:ext cx="3520440" cy="685800"/>
          </a:xfrm>
          <a:prstGeom prst="roundRect">
            <a:avLst>
              <a:gd name="adj" fmla="val 6667"/>
            </a:avLst>
          </a:prstGeom>
          <a:solidFill>
            <a:srgbClr val="E3EFEC"/>
          </a:solidFill>
          <a:ln w="12700">
            <a:solidFill>
              <a:srgbClr val="C9E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45552" y="449884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Contragenti.exe --demo --demo-dir "...\demo"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Integrare cu ERP una.md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Organizația găsită ajunge în nomenclatorul una.md prin trei blocuri autonome, legate printr-un cod comun.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456432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0848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03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TMS_UNIVERS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6700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Înregistrare de nomenclator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999232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generat de trigger, TIP='O'. Acest cod leagă celelalte blocuri.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142232" y="27889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53128" y="1828800"/>
            <a:ext cx="3456432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45736" y="20848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45736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21808" y="2103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TMS_ORG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45736" y="26700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identificare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2999232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CODFISCAL (IDNO), adresa juridică, administratorul — direct din fișa date.gov.md.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27889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0456" y="1828800"/>
            <a:ext cx="3456432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13064" y="20848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13064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089136" y="2103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TMS_ORG_ACCOUNTS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513064" y="26700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Conturi bancare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513064" y="2999232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Câte o înregistrare per cont. Banca se deduce din IBAN și se verifică în nomenclator după BIC.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35640" cy="777240"/>
          </a:xfrm>
          <a:prstGeom prst="roundRect">
            <a:avLst>
              <a:gd name="adj" fmla="val 7059"/>
            </a:avLst>
          </a:prstGeom>
          <a:solidFill>
            <a:srgbClr val="E3EFEC"/>
          </a:solidFill>
          <a:ln w="12700">
            <a:solidFill>
              <a:srgbClr val="C9E0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4526280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bloc se confirmă printr-o tranzacție separată — o eroare la cont nu anulează organizația deja creată.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Două regimuri de lucru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Automat, din mers — sau manual, cu selecție explicită a înregistrărilor.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84248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E3EFEC"/>
          </a:solidFill>
          <a:ln w="12700">
            <a:solidFill>
              <a:srgbClr val="C9E0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842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96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Bifa „Trimitere automată la căutare”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3317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rezultat al căutării pleacă imediat în una.md ca cerere asincronă separată. Interfața nu se blochează.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320040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401568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E3EFEC"/>
          </a:solidFill>
          <a:ln w="12700">
            <a:solidFill>
              <a:srgbClr val="C9E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4015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3383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Bifa din prima coloană a tabelului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7490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Dezactivați regimul automat, bifați liniile dorite și apăsați „Trimite selectate”. Contorul arată câte sunt bifate.</a:t>
            </a:r>
            <a:endParaRPr lang="en-US" sz="1050" dirty="0"/>
          </a:p>
        </p:txBody>
      </p:sp>
      <p:pic>
        <p:nvPicPr>
          <p:cNvPr id="14" name="Image 0" descr="F:\grok\contragents data gov\docs\screenshots_ro\07_tms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1528" y="1737360"/>
            <a:ext cx="3884904" cy="301752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sp>
        <p:nvSpPr>
          <p:cNvPr id="15" name="Text 12"/>
          <p:cNvSpPr txBox="1"/>
          <p:nvPr/>
        </p:nvSpPr>
        <p:spPr>
          <a:xfrm>
            <a:off x="6446520" y="48646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Panoul una.md: două înregistrări din trei sunt bifate</a:t>
            </a:r>
            <a:endParaRPr lang="en-US" sz="1050" dirty="0"/>
          </a:p>
        </p:txBody>
      </p:sp>
      <p:pic>
        <p:nvPicPr>
          <p:cNvPr id="16" name="Image 1" descr="F:\grok\contragents data gov\docs\screenshots_ro\08_tms_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275" y="4754880"/>
            <a:ext cx="2457450" cy="114300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sp>
        <p:nvSpPr>
          <p:cNvPr id="17" name="Text 13"/>
          <p:cNvSpPr txBox="1"/>
          <p:nvPr/>
        </p:nvSpPr>
        <p:spPr>
          <a:xfrm>
            <a:off x="685800" y="6007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Parametrii conexiunii; parola se păstrează în afara codului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Verificarea scrierii în sandbox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Trimitere reală în baza de test clouddev, rezultatul verificat independent prin SQL*Plus.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85216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Înainte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După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0116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3957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TMS_UNIVERS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3957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4673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3957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4675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3957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9626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TMS_ORG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9626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9626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616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296265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5295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TMS_ORG_ACCOUNTS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5295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5295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431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352958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03720" y="1929384"/>
            <a:ext cx="182880" cy="182880"/>
          </a:xfrm>
          <a:prstGeom prst="ellipse">
            <a:avLst/>
          </a:prstGeom>
          <a:solidFill>
            <a:srgbClr val="0B6E5F"/>
          </a:solidFill>
          <a:ln w="12700">
            <a:solidFill>
              <a:srgbClr val="0B6E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69480" y="18745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10312 — ALFA-VIS COM: creată, contul MD24AG…4168 legat de banca 5197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03720" y="2798064"/>
            <a:ext cx="182880" cy="182880"/>
          </a:xfrm>
          <a:prstGeom prst="ellipse">
            <a:avLst/>
          </a:prstGeom>
          <a:solidFill>
            <a:srgbClr val="0B6E5F"/>
          </a:solidFill>
          <a:ln w="12700">
            <a:solidFill>
              <a:srgbClr val="0B6E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69480" y="27432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10313 — Casa de Comerţ ALFA-VIS: creată fără cont (IBAN nespecificat)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03720" y="3666744"/>
            <a:ext cx="182880" cy="182880"/>
          </a:xfrm>
          <a:prstGeom prst="ellipse">
            <a:avLst/>
          </a:prstGeom>
          <a:solidFill>
            <a:srgbClr val="69808F"/>
          </a:solidFill>
          <a:ln w="12700">
            <a:solidFill>
              <a:srgbClr val="6980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69480" y="36118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UNISIM-SOFT — respinsă ca duplicat după CODFISCAL, înregistrările nu s-au dublat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617720"/>
            <a:ext cx="10835640" cy="685800"/>
          </a:xfrm>
          <a:prstGeom prst="roundRect">
            <a:avLst>
              <a:gd name="adj" fmla="val 6667"/>
            </a:avLst>
          </a:prstGeom>
          <a:solidFill>
            <a:srgbClr val="12222F"/>
          </a:solidFill>
          <a:ln w="12700">
            <a:solidFill>
              <a:srgbClr val="12222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4617720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sqlplus paralax@clouddev  →  SELECT u.cod, u.denumirea, o.codfiscal, a.account1 FROM tms_univers u JOIN tms_org o ON o.cod=u.cod LEFT JOIN tms_org_accounts a ON a.cod_org=u.cod;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a scos la iveală scrierea în bază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424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Două constatări apărute doar la inserarea reală.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349240" cy="3840480"/>
          </a:xfrm>
          <a:prstGeom prst="roundRect">
            <a:avLst>
              <a:gd name="adj" fmla="val 1429"/>
            </a:avLst>
          </a:prstGeom>
          <a:solidFill>
            <a:srgbClr val="1D3444"/>
          </a:solidFill>
          <a:ln w="12700">
            <a:solidFill>
              <a:srgbClr val="2E4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2996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Setul de caractere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2257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CL8MSWIN1251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61488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Diacriticele românești (ă, ş, ţ) nu există în setul de caractere al bazei. Conversia implicită a clientului dă fie transliterare, fie „?” — în funcție de NLS_LANG al stației.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22452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Transliterarea a fost mutată în cod și a devenit deterministă: ă→a, ş→s, ţ→t. Chirilica nu este afectată.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349240" cy="3840480"/>
          </a:xfrm>
          <a:prstGeom prst="roundRect">
            <a:avLst>
              <a:gd name="adj" fmla="val 1429"/>
            </a:avLst>
          </a:prstGeom>
          <a:solidFill>
            <a:srgbClr val="1D3444"/>
          </a:solidFill>
          <a:ln w="12700">
            <a:solidFill>
              <a:srgbClr val="2E4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202996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Nomenclatorul de bănci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32257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Potrivire după IBAN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761488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păstrează BIC-ul în câmpul CODVECHI. IBAN-ul moldovenesc conține un cod de bancă din 2 litere, nu din 4 ca în BIC.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22452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Luăm toată partea alfabetică inițială a IBAN-ului: AG → AGRNMD2X, Moldova-Agroindbank, COD 5197.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Vitrina una.md în interiorul programului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Contragenti este gratuit și funcționează ca vitrină a platformei: utilizatorul vede din ce face parte instrumentul.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647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în antet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9397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linie de brand permanentă, dar discretă, cu trecere spre prezentare.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86207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862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437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Fereastra „Despre ERP una.md”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17296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Poziționarea ca alternativă la 1C și blocul „ce schimbă acest lucru în practică”.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94106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9227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Drumul spre încercare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25196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Butonul „Configurează conexiunea” duce din prezentare direct la conectare: interesul devine încercare într-un singur clic.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5029200"/>
            <a:ext cx="5532120" cy="960120"/>
          </a:xfrm>
          <a:prstGeom prst="roundRect">
            <a:avLst>
              <a:gd name="adj" fmla="val 5714"/>
            </a:avLst>
          </a:prstGeom>
          <a:solidFill>
            <a:srgbClr val="E3EFEC"/>
          </a:solidFill>
          <a:ln w="12700">
            <a:solidFill>
              <a:srgbClr val="C9E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02920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B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Doar afirmații verificabile — fără număr de clienți, prețuri și comparații „mai bun/mai rapid”: acestea se contestă ușor și ar submina încrederea în rest.</a:t>
            </a:r>
            <a:endParaRPr lang="en-US" sz="1050" dirty="0"/>
          </a:p>
        </p:txBody>
      </p:sp>
      <p:pic>
        <p:nvPicPr>
          <p:cNvPr id="18" name="Image 0" descr="F:\grok\contragents data gov\docs\screenshots_ro\10_una_ab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4194" y="1691640"/>
            <a:ext cx="3225293" cy="297180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sp>
        <p:nvSpPr>
          <p:cNvPr id="19" name="Text 16"/>
          <p:cNvSpPr txBox="1"/>
          <p:nvPr/>
        </p:nvSpPr>
        <p:spPr>
          <a:xfrm>
            <a:off x="649224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Fereastra „Despre ERP una.md” — din meniu și din banner</a:t>
            </a:r>
            <a:endParaRPr lang="en-US" sz="1050" dirty="0"/>
          </a:p>
        </p:txBody>
      </p:sp>
      <p:pic>
        <p:nvPicPr>
          <p:cNvPr id="20" name="Image 1" descr="F:\grok\contragents data gov\docs\screenshots_ro\11_una_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358659"/>
            <a:ext cx="5029200" cy="31034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sp>
        <p:nvSpPr>
          <p:cNvPr id="21" name="Text 17"/>
          <p:cNvSpPr txBox="1"/>
          <p:nvPr/>
        </p:nvSpPr>
        <p:spPr>
          <a:xfrm>
            <a:off x="6492240" y="5760445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Bannerul de brand în antetul ferestrei principale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402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6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Pachetul este gata de distribuit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Instalarea, lucrul cu date reale de pe portal, auto-testul și dezinstalarea — verificate.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114800"/>
            <a:ext cx="4663440" cy="640080"/>
          </a:xfrm>
          <a:prstGeom prst="roundRect">
            <a:avLst>
              <a:gd name="adj" fmla="val 7143"/>
            </a:avLst>
          </a:prstGeom>
          <a:solidFill>
            <a:srgbClr val="1D3444"/>
          </a:solidFill>
          <a:ln w="12700">
            <a:solidFill>
              <a:srgbClr val="4FC0A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41148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C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dist\Contragenti-1.0.0-win64.msi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623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Datele sunt furnizate de portalul de date deschise al Guvernului Republicii Moldova (date.gov.md).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Contragenti 1.0 — Raport de acceptanță</dc:title>
  <dc:subject>PptxGenJS Presentation</dc:subject>
  <dc:creator>Contragenti</dc:creator>
  <cp:lastModifiedBy>Contragenti</cp:lastModifiedBy>
  <cp:revision>1</cp:revision>
  <dcterms:created xsi:type="dcterms:W3CDTF">2026-08-27T22:08:11Z</dcterms:created>
  <dcterms:modified xsi:type="dcterms:W3CDTF">2026-08-27T22:08:11Z</dcterms:modified>
</cp:coreProperties>
</file>