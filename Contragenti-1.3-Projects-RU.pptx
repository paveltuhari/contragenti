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3A4148"/>
          </a:solidFill>
          <a:ln w="12700">
            <a:solidFill>
              <a:srgbClr val="3A41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566160"/>
            <a:ext cx="2377440" cy="2377440"/>
          </a:xfrm>
          <a:prstGeom prst="ellipse">
            <a:avLst/>
          </a:prstGeom>
          <a:solidFill>
            <a:srgbClr val="B8781C"/>
          </a:solidFill>
          <a:ln w="12700">
            <a:solidFill>
              <a:srgbClr val="B878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Проекты и задачи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Единичные изделия под заказ: панно с логотипом на стену, выжиг поздравлений на дереве, стенды, медали. Тендеры с авансом и без — от заявки до оплаты. Демо по образцу gravura.md и BM Public.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Contragenti · SDK date.gov.md · github.com/PavelTuhari/Contragenti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Проект: путь от тендера до денег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проект = одно изделие или услуга под заказ; этап меняется на канбане, схеме процесса или в карточке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24128" cy="566928"/>
          </a:xfrm>
          <a:prstGeom prst="chevron">
            <a:avLst/>
          </a:prstGeom>
          <a:solidFill>
            <a:srgbClr val="5589CA"/>
          </a:solidFill>
          <a:ln w="12700">
            <a:solidFill>
              <a:srgbClr val="5589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27048" y="1417320"/>
            <a:ext cx="1024128" cy="566928"/>
          </a:xfrm>
          <a:prstGeom prst="chevron">
            <a:avLst/>
          </a:prstGeom>
          <a:solidFill>
            <a:srgbClr val="5589CA"/>
          </a:solidFill>
          <a:ln w="12700">
            <a:solidFill>
              <a:srgbClr val="5589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28216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96896" y="1417320"/>
            <a:ext cx="1024128" cy="566928"/>
          </a:xfrm>
          <a:prstGeom prst="chevron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Аванс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66744" y="1417320"/>
            <a:ext cx="1024128" cy="566928"/>
          </a:xfrm>
          <a:prstGeom prst="chevron">
            <a:avLst/>
          </a:prstGeom>
          <a:solidFill>
            <a:srgbClr val="8A66B0"/>
          </a:solidFill>
          <a:ln w="12700">
            <a:solidFill>
              <a:srgbClr val="8A66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67912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6592" y="1417320"/>
            <a:ext cx="1024128" cy="566928"/>
          </a:xfrm>
          <a:prstGeom prst="chevron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806440" y="1417320"/>
            <a:ext cx="1024128" cy="566928"/>
          </a:xfrm>
          <a:prstGeom prst="chevron">
            <a:avLst/>
          </a:prstGeom>
          <a:solidFill>
            <a:srgbClr val="2A9A4C"/>
          </a:solidFill>
          <a:ln w="12700">
            <a:solidFill>
              <a:srgbClr val="2A9A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7608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76288" y="1417320"/>
            <a:ext cx="1024128" cy="566928"/>
          </a:xfrm>
          <a:prstGeom prst="chevron">
            <a:avLst/>
          </a:prstGeom>
          <a:solidFill>
            <a:srgbClr val="8A66B0"/>
          </a:solidFill>
          <a:ln w="12700">
            <a:solidFill>
              <a:srgbClr val="8A66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77456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46136" y="1417320"/>
            <a:ext cx="1024128" cy="566928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47304" y="14173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авансом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аванса в проекте (30–50 %)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на аванс — отдельная задача бухгалтера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«Аванс» записывает сумму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начинаются после поступления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1945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аванса (тендер)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2651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аванс 0 % по условиям закупки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«счёт на аванс» не создаётся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развилка «Аванс нужен?» ведёт сразу в дизайн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после сдачи — вся сумма в долге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21945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4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Проигран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651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 не выигран — проект уходит в «Проигран»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и сделка остаются в архиве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считается ни долгом, ни просрочкой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канбане и схеме — отдельная колонка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Десять демо-проектов: gravura.md и BM Public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Партнёры-производители — GRAVURA.MD (лазер, выжиг по дереву) и BM PUBLIC (рекламные конструкции); заказчики — фирмы демо-базы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1051560"/>
                <a:gridCol w="96012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Проект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Тендер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Бюджет, MDL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Аванс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Панно с логотипом на стену 3×1,5 м (акрил, подсветка)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Реклама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Таблички с выжигом поздравлений, дуб, 200 шт.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Гравировка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Дизайн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аванса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Гравировка подарочных ручек и ежедневников, 500 шт.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Сувениры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Световой короб на фасад магазина 4×1 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Реклама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D48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Проигран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Брендирование автомобиля доставки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Реклама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Аванс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Деревянные медали с гравировкой для марафона, 1 200 шт.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Сувениры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Оплата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Выставочный стенд Moldexpo 6×3 м (запаздывает)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Монтаж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Панно-табличка ресторана из дуба (лазер)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Гравировка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Договор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Наградные доски и кубки с гравировкой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Сувениры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Тендер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Вывеска и панно на входе (композит + объёмные буквы)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Реклама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Сдача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T-2026-012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 «Проекты»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Клиент, вид, этап, тендер, бюджет, аванс, оплата, сроки, менеджер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3697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66_projects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325880"/>
            <a:ext cx="5394960" cy="32480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37160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Пресеты по каждому этапу и «Запаздывают»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«Задачи проекта» — доска задач выбранного проекта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«План (Гант)» — проекты и их шаги по датам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проект связан со сделкой-тендером и производственным заказом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Задачи: от списка к рабочему процессу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· этап · приоритет · исполнитель · план и срок · часы · «после задачи №»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67_project_tasks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2480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371600"/>
            <a:ext cx="347472" cy="347472"/>
          </a:xfrm>
          <a:prstGeom prst="ellipse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→ в работе → ожидание → проверка → готово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2194560"/>
            <a:ext cx="347472" cy="347472"/>
          </a:xfrm>
          <a:prstGeom prst="ellipse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· обычный · высокий · срочно (значок и цвет)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3017520"/>
            <a:ext cx="347472" cy="347472"/>
          </a:xfrm>
          <a:prstGeom prst="ellipse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«после задачи №» — стрелки на Ганте, порядок шагов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3840480"/>
            <a:ext cx="347472" cy="347472"/>
          </a:xfrm>
          <a:prstGeom prst="ellipse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состояние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«Готово» ⇔ флаг «выполнено»: любое из двух переключает другое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Перетащили в «Готово» — «выполнено» выставилось само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и кнопки идут через одну точку смены этапа; самотест повторяет путь мыши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69_task_drag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2480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4173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анимирован: карточка перелетает в колонку и вспыхивает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задачи — красный бейдж «−N д», сегодня — янтарный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щелчок по карточке открывает задачу в разделе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доска — для всех задач с проектом («Все проекты»)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Канбан «Проекты — этапы»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колонок с прокруткой; деньги следуют за этапом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70_kanban_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2480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4173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Карточка: вид, клиент, бюджет, прогресс оплаты, задачи всего/готово, срок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«Аванс» записывает аванс по проценту проекта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«Закрыт» закрывает остаток оплаты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Запаздывающие проекты подсвечены; проигранные — отдельная колонка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бизнес-процесса проекта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дорожки: «Тендер и договор» и «Исполнение проекта»; развилки «Аванс нужен?» и «Оплата полная?»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72_process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2480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4173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показывает те же карточки, что колонка канбана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Щелчок — описание этапа: ответственный, норматив, текст (правится и сохраняется в processes.json)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щелчок — раздел «Проекты» с фильтром этапа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Карточку можно перетащить на другой узел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работ: проекты и задачи по датам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шаги зелёным, просроченные красным, стрелки «после задачи»; задачи можно тянуть мышью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73_gantt_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2480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4173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проекта — от начала до сдачи; под ней шаги в порядке выполнения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задачи мышью меняет план и срок в базе; проект тянется вместе с задачами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щелчок — карточка проекта или задачи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 и производственные операции — в прежних режимах плана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«Проекты: тендеры, авансы, задачи»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Бюджет, аванс по проценту и фактически, оплачено, долг, задачи и просрочка — Excel и PDF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504688" cy="3357747"/>
          </a:xfrm>
          <a:prstGeom prst="roundRect">
            <a:avLst>
              <a:gd name="adj" fmla="val 217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F:\grok\contragents data gov\crm_delphi\shots_gui\75_report_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2480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4173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= бюджет − аванс − оплата для незакрытых и не проигранных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по всем проектам, кроме проигранных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без внешних библиотек: xlsx (Open XML) и pdf со встроенным шрифтом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Самотест проверяет файлы по сигнатуре: PK и %PDF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 внутри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таблица — одно описание сущности; страницы, доски и отчёты строятся из метаданных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5589CA"/>
          </a:solidFill>
          <a:ln w="12700">
            <a:solidFill>
              <a:srgbClr val="5589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client_id · kind · status · tender_no · tender_deadline · budget · prepay_pct · prepaid · paid · start_date · due_date · manager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554480"/>
            <a:ext cx="384048" cy="384048"/>
          </a:xfrm>
          <a:prstGeom prst="ellipse">
            <a:avLst/>
          </a:prstGeom>
          <a:solidFill>
            <a:srgbClr val="E09B2E"/>
          </a:solidFill>
          <a:ln w="12700">
            <a:solidFill>
              <a:srgbClr val="E09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· project_id · stage · priority · assignee · kind · plan_start · due_at · hours_plan · hours_fact · seq · depends_on · done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2A9A4C"/>
          </a:solidFill>
          <a:ln w="12700">
            <a:solidFill>
              <a:srgbClr val="2A9A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project_id — производственный заказ проекта; аванс и оплата заказа повторяют проект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154680"/>
            <a:ext cx="384048" cy="384048"/>
          </a:xfrm>
          <a:prstGeom prst="ellipse">
            <a:avLst/>
          </a:prstGeom>
          <a:solidFill>
            <a:srgbClr val="8A66B0"/>
          </a:solidFill>
          <a:ln w="12700">
            <a:solidFill>
              <a:srgbClr val="8A66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uBoardCards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LoadBoardCards / MoveBoardCard — единственная точка смены этапа для канбана, схемы и Ганта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и опубликовано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80/80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 GUI-самотеста со снимками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DML-проверок, 0 FAIL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демо-проектов, 100 задач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9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языка: ro · en · ru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Contragenti-1.3.2-setup.exe (без Windows Installer, Program Files, базы с данными внутри) или MSI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0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github.com/PavelTuhari/Contragenti → release/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тестирования: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5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crm_delphi/act_testirovaniya.html — все 80 шагов со встроенными снимками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CRM 1.3.2 · Проекты и задачи 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CRM 1.3 — проекты и задачи</dc:title>
  <dc:subject>PptxGenJS Presentation</dc:subject>
  <dc:creator>PptxGenJS</dc:creator>
  <cp:lastModifiedBy>PptxGenJS</cp:lastModifiedBy>
  <cp:revision>1</cp:revision>
  <dcterms:created xsi:type="dcterms:W3CDTF">2026-09-06T11:47:42Z</dcterms:created>
  <dcterms:modified xsi:type="dcterms:W3CDTF">2026-09-06T11:47:42Z</dcterms:modified>
</cp:coreProperties>
</file>